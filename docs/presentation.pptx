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60A5FA"/>
                </a:solidFill>
                <a:latin typeface="Calibri"/>
              </a:rPr>
              <a:t>VisionMind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E6EDF7"/>
                </a:solidFill>
                <a:latin typeface="Calibri"/>
              </a:rPr>
              <a:t>Multi-Architecture Image Classification with Explainable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CA3AF"/>
                </a:solidFill>
                <a:latin typeface="Calibri"/>
              </a:rPr>
              <a:t>ITAI 1378 — Computer Vision · Final Project ·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6EDF7"/>
                </a:solidFill>
                <a:latin typeface="Calibri"/>
              </a:rPr>
              <a:t>Ahmet Burak Solak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CA3AF"/>
                </a:solidFill>
                <a:latin typeface="Calibri"/>
              </a:rPr>
              <a:t>github.com/burakaitechnologies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60A5F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E6EDF7"/>
                </a:solidFill>
                <a:latin typeface="Calibri"/>
              </a:rPr>
              <a:t>•  Production image classifiers are usually black boxes — they tell users WHAT, not WHY.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6EDF7"/>
                </a:solidFill>
                <a:latin typeface="Calibri"/>
              </a:rPr>
              <a:t>•  Practitioners need to compare architectures (capacity vs. speed vs. transferability) on the same benchmark, not pick one on intuition.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6EDF7"/>
                </a:solidFill>
                <a:latin typeface="Calibri"/>
              </a:rPr>
              <a:t>•  Real-world adoption (medical, agricultural, industrial) requires trust → predictions must be inspectable.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C55E"/>
                </a:solidFill>
                <a:latin typeface="Calibri"/>
              </a:rPr>
              <a:t>VisionMind addresses both gaps in one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60A5FA"/>
                </a:solidFill>
                <a:latin typeface="Calibri"/>
              </a:rP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E6EDF7"/>
                </a:solidFill>
                <a:latin typeface="Calibri"/>
              </a:rPr>
              <a:t>•  Train THREE architectures on the same CIFAR-10 split: a from-scratch CNN, ResNet18 (transfer), MobileNetV2 (transfer).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6EDF7"/>
                </a:solidFill>
                <a:latin typeface="Calibri"/>
              </a:rPr>
              <a:t>•  Combine them via a soft-vote ensemble (averaged softmax probabilities) for higher accuracy.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6EDF7"/>
                </a:solidFill>
                <a:latin typeface="Calibri"/>
              </a:rPr>
              <a:t>•  Explain every prediction with Grad-CAM heatmaps from the strongest model's last conv block.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6EDF7"/>
                </a:solidFill>
                <a:latin typeface="Calibri"/>
              </a:rPr>
              <a:t>•  All built on PyTorch + torchvision; reproducible end-to-end in a single Colab notebook.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60A5FA"/>
                </a:solidFill>
                <a:latin typeface="Calibri"/>
              </a:rPr>
              <a:t>Dataset — CIFAR-10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E6EDF7"/>
                </a:solidFill>
                <a:latin typeface="Calibri"/>
              </a:rPr>
              <a:t>•  60,000 colour images at 32×32, 10 classes, perfectly balanced.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6EDF7"/>
                </a:solidFill>
                <a:latin typeface="Calibri"/>
              </a:rPr>
              <a:t>•  Splits used: 45k train / 5k val (random-split, seed 42) / 10k test.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6EDF7"/>
                </a:solidFill>
                <a:latin typeface="Calibri"/>
              </a:rPr>
              <a:t>•  Auto-downloads via torchvision; not committed to the repo.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6EDF7"/>
                </a:solidFill>
                <a:latin typeface="Calibri"/>
              </a:rPr>
              <a:t>•  Augmentation: RandomCrop(pad=4) + RandomHorizontalFlip on train only.</a:t>
            </a:r>
          </a:p>
        </p:txBody>
      </p:sp>
      <p:pic>
        <p:nvPicPr>
          <p:cNvPr id="5" name="Picture 4" descr="sample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14800"/>
            <a:ext cx="9144000" cy="4053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60A5FA"/>
                </a:solidFill>
                <a:latin typeface="Calibri"/>
              </a:rPr>
              <a:t>Architecture &amp;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E6EDF7"/>
                </a:solidFill>
                <a:latin typeface="Calibri"/>
              </a:rPr>
              <a:t>•  CustomCNN — three conv blocks (32→64→128 channels), GAP head, ~315k params, native 32×32.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6EDF7"/>
                </a:solidFill>
                <a:latin typeface="Calibri"/>
              </a:rPr>
              <a:t>•  ResNet18 — ImageNet-pretrained backbone, classifier head retrained for 10 classes, input 224×224.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6EDF7"/>
                </a:solidFill>
                <a:latin typeface="Calibri"/>
              </a:rPr>
              <a:t>•  MobileNetV2 — ImageNet-pretrained, depthwise-separable convs, optimized for edge.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6EDF7"/>
                </a:solidFill>
                <a:latin typeface="Calibri"/>
              </a:rPr>
              <a:t>•  All trained with Adam + CosineAnnealingLR, 15 epochs, identical augmentation, identical eval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60A5FA"/>
                </a:solidFill>
                <a:latin typeface="Calibri"/>
              </a:rPr>
              <a:t>Results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852160" cy="32990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0972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CA3AF"/>
                </a:solidFill>
                <a:latin typeface="Calibri"/>
              </a:rPr>
              <a:t>Test-set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5544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E6EDF7"/>
                </a:solidFill>
                <a:latin typeface="Calibri"/>
              </a:rPr>
              <a:t>•  Custom CNN: 78.2 %  (sanity baseline)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6EDF7"/>
                </a:solidFill>
                <a:latin typeface="Calibri"/>
              </a:rPr>
              <a:t>•  ResNet18: 91.2 %  (best single)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6EDF7"/>
                </a:solidFill>
                <a:latin typeface="Calibri"/>
              </a:rPr>
              <a:t>•  MobileNetV2: 89.5 %  (≈2× faster)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E6EDF7"/>
                </a:solidFill>
                <a:latin typeface="Calibri"/>
              </a:rPr>
              <a:t>•  Ensemble: 93.4 %  (+2.2 pts)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C55E"/>
                </a:solidFill>
                <a:latin typeface="Calibri"/>
              </a:rPr>
              <a:t>Per-class F1 worst case: 0.84 (cat). Latency on CPU: ~45 ms (ResNet18).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60A5FA"/>
                </a:solidFill>
                <a:latin typeface="Calibri"/>
              </a:rPr>
              <a:t>Where the models confuse classes</a:t>
            </a:r>
          </a:p>
        </p:txBody>
      </p:sp>
      <p:pic>
        <p:nvPicPr>
          <p:cNvPr id="4" name="Picture 3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26270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CA3AF"/>
                </a:solidFill>
                <a:latin typeface="Calibri"/>
              </a:rPr>
              <a:t>Hardest pair across all models: cat ↔ dog. Easiest: ship and truck.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60A5FA"/>
                </a:solidFill>
                <a:latin typeface="Calibri"/>
              </a:rPr>
              <a:t>Explainability — Grad-CAM</a:t>
            </a:r>
          </a:p>
        </p:txBody>
      </p:sp>
      <p:pic>
        <p:nvPicPr>
          <p:cNvPr id="4" name="Picture 3" descr="gradcam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72800" cy="52677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CA3AF"/>
                </a:solidFill>
                <a:latin typeface="Calibri"/>
              </a:rPr>
              <a:t>Heatmaps highlight pixels that increased the predicted class score. Misclassifications are diagnostic — Grad-CAM tells us WHY.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60A5FA"/>
                </a:solidFill>
                <a:latin typeface="Calibri"/>
              </a:rPr>
              <a:t>Honest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E6EDF7"/>
                </a:solidFill>
                <a:latin typeface="Calibri"/>
              </a:rPr>
              <a:t>•  CIFAR-10 is small (32×32) — Grad-CAM heatmaps are coarse. On a real dataset I'd upsample inputs and use a deeper backbone.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6EDF7"/>
                </a:solidFill>
                <a:latin typeface="Calibri"/>
              </a:rPr>
              <a:t>•  Ensemble cost is 3× single-model at inference. For edge deployment I'd distill the ensemble into a single MobileNetV2 student.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6EDF7"/>
                </a:solidFill>
                <a:latin typeface="Calibri"/>
              </a:rPr>
              <a:t>•  No test-time augmentation; adding TTA would likely lift the ensemble another ~0.5-1 pt.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6EDF7"/>
                </a:solidFill>
                <a:latin typeface="Calibri"/>
              </a:rPr>
              <a:t>•  Class imbalance not an issue here, but the pipeline isn't yet stress-tested on imbalanced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60A5FA"/>
                </a:solidFill>
                <a:latin typeface="Calibri"/>
              </a:rPr>
              <a:t>Reflection &amp;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E6EDF7"/>
                </a:solidFill>
                <a:latin typeface="Calibri"/>
              </a:rPr>
              <a:t>•  Transfer learning beat from-scratch by ~13 pts at the same compute budget — the lecture intuition was correct.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6EDF7"/>
                </a:solidFill>
                <a:latin typeface="Calibri"/>
              </a:rPr>
              <a:t>•  Grad-CAM exposed real failure modes (e.g., a truck → car miss focused on the wheels, not the cabin) that pure accuracy hides.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6EDF7"/>
                </a:solidFill>
                <a:latin typeface="Calibri"/>
              </a:rPr>
              <a:t>•  Next steps: distill the ensemble into a single MobileNet, deploy via Streamlit, evaluate on a custom dataset.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E6EDF7"/>
                </a:solidFill>
                <a:latin typeface="Calibri"/>
              </a:rPr>
              <a:t>•  Repository: github.com/burakaitechnologies/Ahmet-Burak-Solak-AI-Portfolio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2C55E"/>
                </a:solidFill>
                <a:latin typeface="Calibri"/>
              </a:rPr>
              <a:t>Thank you · Ahmet Burak Solak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